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Pretendard"/>
      <p:regular r:id="rId19"/>
      <p:bold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E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SPACEOS · 디지털 트윈 상권 플랫폼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웹·앱 구현 로드맵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E0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PPPP 바이브 코딩 실행안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3794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C2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기초 구조(Platform·Page·Posting·Program) 기반 · Claude Code 바이브 코딩 · 네이버 지도/네이버페이 연동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480060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0EA5B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800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07208" y="480060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2807208" y="4800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47488" y="480060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EFA50F"/>
          </a:solidFill>
          <a:ln/>
        </p:spPr>
      </p:sp>
      <p:sp>
        <p:nvSpPr>
          <p:cNvPr id="12" name="Text 10"/>
          <p:cNvSpPr/>
          <p:nvPr/>
        </p:nvSpPr>
        <p:spPr>
          <a:xfrm>
            <a:off x="5047488" y="4800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87768" y="480060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22B07D"/>
          </a:solidFill>
          <a:ln/>
        </p:spPr>
      </p:sp>
      <p:sp>
        <p:nvSpPr>
          <p:cNvPr id="14" name="Text 12"/>
          <p:cNvSpPr/>
          <p:nvPr/>
        </p:nvSpPr>
        <p:spPr>
          <a:xfrm>
            <a:off x="7287768" y="4800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Program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2026-05-30 · 팀 공유용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457200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 요약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13816" y="7680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만드는 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691640"/>
            <a:ext cx="2670048" cy="109728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8424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8096" y="2478024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디지털 프로필 + AI 추천 엔진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3264408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상권을 하나의 디지털 플랫폼으로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1568" y="16916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1691640"/>
            <a:ext cx="2670048" cy="10972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198424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02736" y="2478024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히트맵 + 3D·지도 시각화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3264408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업장이 어디에 있는가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16916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1691640"/>
            <a:ext cx="2670048" cy="109728"/>
          </a:xfrm>
          <a:prstGeom prst="rect">
            <a:avLst/>
          </a:prstGeom>
          <a:solidFill>
            <a:srgbClr val="EFA50F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98424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A5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37376" y="2478024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입점 솔루션 카드 (3 tier)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7376" y="3264408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공실에 어떤 업소가 맞는가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70848" y="169164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70848" y="1691640"/>
            <a:ext cx="2670048" cy="109728"/>
          </a:xfrm>
          <a:prstGeom prst="rect">
            <a:avLst/>
          </a:prstGeom>
          <a:solidFill>
            <a:srgbClr val="22B07D"/>
          </a:solidFill>
          <a:ln/>
        </p:spPr>
      </p:sp>
      <p:sp>
        <p:nvSpPr>
          <p:cNvPr id="22" name="Text 20"/>
          <p:cNvSpPr/>
          <p:nvPr/>
        </p:nvSpPr>
        <p:spPr>
          <a:xfrm>
            <a:off x="9272016" y="198424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B0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Program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72016" y="2478024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마케팅·행사 자동화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72016" y="3264408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상권에 맞춘 홍보를 자동 생성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709160"/>
            <a:ext cx="11057839" cy="1143000"/>
          </a:xfrm>
          <a:prstGeom prst="roundRect">
            <a:avLst>
              <a:gd name="adj" fmla="val 8000"/>
            </a:avLst>
          </a:prstGeom>
          <a:solidFill>
            <a:srgbClr val="142440"/>
          </a:solidFill>
          <a:ln/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6968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FE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산출물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968" y="5257800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광고 전략 시스템</a:t>
            </a:r>
            <a:pPr indent="0" marL="0">
              <a:buNone/>
            </a:pPr>
            <a:r>
              <a:rPr lang="en-US" sz="1700" dirty="0">
                <a:solidFill>
                  <a:srgbClr val="5B7C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·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네이버페이 결제 연동</a:t>
            </a:r>
            <a:pPr indent="0" marL="0">
              <a:buNone/>
            </a:pPr>
            <a:r>
              <a:rPr lang="en-US" sz="1700" dirty="0">
                <a:solidFill>
                  <a:srgbClr val="5B7C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·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지도 API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SpaceOS · PPPP 바이브 코딩 로드맵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11535" y="64739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457200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개념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13816" y="7680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 = 물리적 상권을 디지털로 재정의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45720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‘분석 도구’가 아니다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468880"/>
            <a:ext cx="4069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상권을 방문하기 전에 AI·인스타그램·네이버 지도로 먼저 만난다.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 후엔 별점·리뷰·해시태그로 경험을 온라인에 기록한다.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즉, 물리 공간이라도 먼저 ‘디지털 스킨십’을 거친다.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첫 인식과 마지막 기록이 일어나는 디지털 공간이 곧 Platform이다.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23560" y="1783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스킨십 폐루프(Closed Loop)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2240280"/>
            <a:ext cx="59893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0" y="2240280"/>
            <a:ext cx="118872" cy="896112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11" name="Text 9"/>
          <p:cNvSpPr/>
          <p:nvPr/>
        </p:nvSpPr>
        <p:spPr>
          <a:xfrm>
            <a:off x="5916168" y="23591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디지털 스킨십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16168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AI·인스타·네이버 지도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58200" y="3081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319272"/>
            <a:ext cx="59893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23560" y="3319272"/>
            <a:ext cx="118872" cy="89611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5916168" y="343814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물리적 방문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16168" y="37764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상권/상가 경험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58200" y="4160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23560" y="4398264"/>
            <a:ext cx="59893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0" y="4398264"/>
            <a:ext cx="118872" cy="89611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1" name="Text 19"/>
          <p:cNvSpPr/>
          <p:nvPr/>
        </p:nvSpPr>
        <p:spPr>
          <a:xfrm>
            <a:off x="5916168" y="45171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디지털 기록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16168" y="48554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별점·리뷰·사진·해시태그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553212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입구이자 출구 = Platform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SpaceOS · PPPP 바이브 코딩 로드맵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11535" y="64739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457200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13816" y="7680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PPPP — 거시·미시 흐름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거시 (Macro)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16168" y="164592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미시 (Micro)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993392"/>
            <a:ext cx="4983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2402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EA5B7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" y="2743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AI 추천 엔진 — 각 상권을 디지털 플랫폼으로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16168" y="1993392"/>
            <a:ext cx="4983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22402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6144768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50608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63056" y="2743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히트맵 &amp; 3D 디지털 트윈 시각화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611880"/>
            <a:ext cx="4983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5528" y="385876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22B07D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38587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3813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B0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Program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" y="43616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 자동화 — 온라인 퍼포먼스 + 오프라인 행사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16168" y="3611880"/>
            <a:ext cx="4983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385876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FA50F"/>
          </a:solidFill>
          <a:ln/>
        </p:spPr>
      </p:sp>
      <p:sp>
        <p:nvSpPr>
          <p:cNvPr id="24" name="Text 22"/>
          <p:cNvSpPr/>
          <p:nvPr/>
        </p:nvSpPr>
        <p:spPr>
          <a:xfrm>
            <a:off x="6144768" y="38587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50608" y="3813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A5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63056" y="43616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 솔루션 카드 — 고급화·가성비·기능중심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852928" y="3383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02168" y="3383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66928" y="5212080"/>
            <a:ext cx="11057839" cy="868680"/>
          </a:xfrm>
          <a:prstGeom prst="roundRect">
            <a:avLst>
              <a:gd name="adj" fmla="val 10526"/>
            </a:avLst>
          </a:prstGeom>
          <a:solidFill>
            <a:srgbClr val="142440"/>
          </a:solidFill>
          <a:ln/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86968" y="5212080"/>
            <a:ext cx="104177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FE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산출물  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광고 전략 시스템 · 네이버페이 결제 · 네이버 지도 API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SpaceOS · PPPP 바이브 코딩 로드맵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11535" y="64739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457200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방식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13816" y="7680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바이브 코딩 + 공통 셋업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4068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바이브 코딩 사이클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9536" y="2514600"/>
            <a:ext cx="384048" cy="384048"/>
          </a:xfrm>
          <a:prstGeom prst="ellipse">
            <a:avLst/>
          </a:prstGeom>
          <a:solidFill>
            <a:srgbClr val="0EA5B7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35608" y="247802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PRD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작업을 3–5개 작은 단위로 쪼갠다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9536" y="3118104"/>
            <a:ext cx="384048" cy="384048"/>
          </a:xfrm>
          <a:prstGeom prst="ellipse">
            <a:avLst/>
          </a:prstGeom>
          <a:solidFill>
            <a:srgbClr val="0EA5B7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35608" y="30815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코드 생성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Code가 한 단위씩 작성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9536" y="3721608"/>
            <a:ext cx="384048" cy="384048"/>
          </a:xfrm>
          <a:prstGeom prst="ellipse">
            <a:avLst/>
          </a:prstGeom>
          <a:solidFill>
            <a:srgbClr val="0EA5B7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35608" y="36850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검증·커밋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실행/테스트 통과 → git commit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81928" y="1783080"/>
            <a:ext cx="534924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56248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셋업 (1회)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56248" y="2487168"/>
            <a:ext cx="4800600" cy="1783080"/>
          </a:xfrm>
          <a:prstGeom prst="roundRect">
            <a:avLst>
              <a:gd name="adj" fmla="val 3077"/>
            </a:avLst>
          </a:prstGeom>
          <a:solidFill>
            <a:srgbClr val="0E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6739128" y="265176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F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SpaceOS &amp;&amp; cd SpaceOS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         # 폴더에서 로그인·시작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&amp;&amp; git add -A &amp;&amp; git commit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데이터는 3계층으로만 흐른다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983480"/>
            <a:ext cx="3383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5528" y="5212080"/>
            <a:ext cx="457200" cy="457200"/>
          </a:xfrm>
          <a:prstGeom prst="ellipse">
            <a:avLst/>
          </a:prstGeom>
          <a:solidFill>
            <a:srgbClr val="B07A3C"/>
          </a:solidFill>
          <a:ln/>
        </p:spPr>
      </p:sp>
      <p:sp>
        <p:nvSpPr>
          <p:cNvPr id="23" name="Text 21"/>
          <p:cNvSpPr/>
          <p:nvPr/>
        </p:nvSpPr>
        <p:spPr>
          <a:xfrm>
            <a:off x="1435608" y="5138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Bronze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35608" y="5468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그대로 (JSON·CSV·HTML)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50208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224528" y="4983480"/>
            <a:ext cx="3383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53128" y="5212080"/>
            <a:ext cx="457200" cy="457200"/>
          </a:xfrm>
          <a:prstGeom prst="ellipse">
            <a:avLst/>
          </a:prstGeom>
          <a:solidFill>
            <a:srgbClr val="8A93A6"/>
          </a:solidFill>
          <a:ln/>
        </p:spPr>
      </p:sp>
      <p:sp>
        <p:nvSpPr>
          <p:cNvPr id="28" name="Text 26"/>
          <p:cNvSpPr/>
          <p:nvPr/>
        </p:nvSpPr>
        <p:spPr>
          <a:xfrm>
            <a:off x="5093208" y="5138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Silver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93208" y="5468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정제·주소→좌표 (Parquet)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607808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882128" y="4983480"/>
            <a:ext cx="33832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10728" y="5212080"/>
            <a:ext cx="457200" cy="457200"/>
          </a:xfrm>
          <a:prstGeom prst="ellipse">
            <a:avLst/>
          </a:prstGeom>
          <a:solidFill>
            <a:srgbClr val="C79A1E"/>
          </a:solidFill>
          <a:ln/>
        </p:spPr>
      </p:sp>
      <p:sp>
        <p:nvSpPr>
          <p:cNvPr id="33" name="Text 31"/>
          <p:cNvSpPr/>
          <p:nvPr/>
        </p:nvSpPr>
        <p:spPr>
          <a:xfrm>
            <a:off x="8750808" y="5138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Gold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50808" y="54681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분석·서비스용 피처 (PostGIS)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SpaceOS · PPPP 바이브 코딩 로드맵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11535" y="64739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457200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①/4 · PLATFORM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13816" y="7680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디지털 프로필 + AI 추천 엔진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5440680" cy="91440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8424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만드나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86584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상권별 디지털 프로필(감성지수·주고객·채널 노출·분위기 키워드)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예측(LSTM)·업종 추천(GNN) 호출 /api/v1/ai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1928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81928" y="1783080"/>
            <a:ext cx="5440680" cy="91440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8424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— 출처·저장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386584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네이버 지도·인스타 리뷰, 공공 개·폐업 이력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저장: bronze/{상권} → silver(정제·좌표) → gold(프로필)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13308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프롬프트 (요점)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535424"/>
            <a:ext cx="4928616" cy="1078992"/>
          </a:xfrm>
          <a:prstGeom prst="roundRect">
            <a:avLst>
              <a:gd name="adj" fmla="val 4237"/>
            </a:avLst>
          </a:prstGeom>
          <a:solidFill>
            <a:srgbClr val="0E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" y="4663440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"상권 silver 데이터로 ‘상권 디지털 프로필’을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산출하는 platform_profile.py 와 /api/v1/ai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라우터를 만들어줘. 결과는 gold 에 저장."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81928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81928" y="3931920"/>
            <a:ext cx="5440680" cy="91440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13308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 · 저장 · 공유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535424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gold/platform_profile.parquet → PostGIS 적재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GitHub · 프로필 표는 Notion/Drive 공유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SpaceOS · PPPP 바이브 코딩 로드맵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11535" y="64739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4572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②/4 · PAGE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13816" y="7680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히트맵 + 3D·지도 시각화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5440680" cy="914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8424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만드나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86584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지도 위 공실 위험도 색상 히트맵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클릭 → 3년 변천사·폐업 사유·추천 업종 패널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1928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81928" y="1783080"/>
            <a:ext cx="5440680" cy="914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8424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— 출처·저장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386584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공공데이터(상가)·네이버부동산(매물)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저장: bronze 원본 → gold/vacancy_features, 좌표는 Geocoding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13308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프롬프트 (요점)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535424"/>
            <a:ext cx="4928616" cy="1078992"/>
          </a:xfrm>
          <a:prstGeom prst="roundRect">
            <a:avLst>
              <a:gd name="adj" fmla="val 4237"/>
            </a:avLst>
          </a:prstGeom>
          <a:solidFill>
            <a:srgbClr val="0E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" y="4663440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"naverMap.ts 로 지도를 띄우고 /api/v1/heatmap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GeoJSON 으로 공실 위험도를 색상 히트맵으로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표시하는 DistrictMap 컴포넌트를 만들어줘."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81928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81928" y="3931920"/>
            <a:ext cx="5440680" cy="914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13308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 · 저장 · 공유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535424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히트맵 GeoJSON → Redis 캐시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캡처·데모 → 공유 드라이브, 코드 PR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SpaceOS · PPPP 바이브 코딩 로드맵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11535" y="64739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457200"/>
          </a:xfrm>
          <a:prstGeom prst="rect">
            <a:avLst/>
          </a:prstGeom>
          <a:solidFill>
            <a:srgbClr val="EFA50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FA5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③/4 · POSTING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13816" y="7680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입점 솔루션 카드 (3 tier)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5440680" cy="91440"/>
          </a:xfrm>
          <a:prstGeom prst="rect">
            <a:avLst/>
          </a:prstGeom>
          <a:solidFill>
            <a:srgbClr val="EFA50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8424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A5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만드나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86584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공실에 맞는 업소를 3 tier로 비교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고급화 · 가성비 · 기능중심(다크키친·물류)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tier별 매출·투자비·ROI·손익분기 산출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1928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81928" y="1783080"/>
            <a:ext cx="5440680" cy="91440"/>
          </a:xfrm>
          <a:prstGeom prst="rect">
            <a:avLst/>
          </a:prstGeom>
          <a:solidFill>
            <a:srgbClr val="EFA50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8424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A5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— 출처·저장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386584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입력: building_id·업종·전략 (신규 수집 없음)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기준값: gold/cost_benchmarks (소진공·프랜차이즈 공시)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13308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A5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프롬프트 (요점)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535424"/>
            <a:ext cx="4928616" cy="1078992"/>
          </a:xfrm>
          <a:prstGeom prst="roundRect">
            <a:avLst>
              <a:gd name="adj" fmla="val 4237"/>
            </a:avLst>
          </a:prstGeom>
          <a:solidFill>
            <a:srgbClr val="0E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" y="4663440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"building_id·업종·전략을 입력받아 매출(LSTM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재사용)·투자비·ROI·손익분기를 계산하는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/api/v1/ai/simulate-revenue 를 만들어줘."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81928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81928" y="3931920"/>
            <a:ext cx="5440680" cy="91440"/>
          </a:xfrm>
          <a:prstGeom prst="rect">
            <a:avLst/>
          </a:prstGeom>
          <a:solidFill>
            <a:srgbClr val="EFA50F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13308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A5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 · 저장 · 공유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535424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On-demand 응답 (무상태)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단건 리포트는 PDF → 네이버페이 결제 연동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SpaceOS · PPPP 바이브 코딩 로드맵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11535" y="64739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457200"/>
          </a:xfrm>
          <a:prstGeom prst="rect">
            <a:avLst/>
          </a:prstGeom>
          <a:solidFill>
            <a:srgbClr val="22B07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B0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④/4 · PROGRAM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13816" y="7680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마케팅 · 행사 자동화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5440680" cy="91440"/>
          </a:xfrm>
          <a:prstGeom prst="rect">
            <a:avLst/>
          </a:prstGeom>
          <a:solidFill>
            <a:srgbClr val="22B07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8424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0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만드나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86584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(a) 온라인 퍼포먼스 마케팅(채널·예산·크리에이티브)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(b) 오프라인 행사(축제·플리마켓·공연) 기획 자동 생성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기초 구조의 ‘AI 광고 전략 시스템’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1928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81928" y="1783080"/>
            <a:ext cx="5440680" cy="91440"/>
          </a:xfrm>
          <a:prstGeom prst="rect">
            <a:avLst/>
          </a:prstGeom>
          <a:solidFill>
            <a:srgbClr val="22B07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8424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0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— 출처·저장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386584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입력: Platform 상권 프로필 (추가 수집 없음)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저장: gold/marketing_outputs + 이력 테이블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13308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0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프롬프트 (요점)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535424"/>
            <a:ext cx="4928616" cy="1078992"/>
          </a:xfrm>
          <a:prstGeom prst="roundRect">
            <a:avLst>
              <a:gd name="adj" fmla="val 4237"/>
            </a:avLst>
          </a:prstGeom>
          <a:solidFill>
            <a:srgbClr val="0E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" y="4663440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"상권 프로필로 온라인 마케팅·오프라인 행사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기획안을 생성하는 /api/v1/marketing/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generate-content 를 만들어줘. 공감 가이드 반영."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81928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81928" y="3931920"/>
            <a:ext cx="5440680" cy="91440"/>
          </a:xfrm>
          <a:prstGeom prst="rect">
            <a:avLst/>
          </a:prstGeom>
          <a:solidFill>
            <a:srgbClr val="22B07D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13308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0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 · 저장 · 공유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535424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검수 후 B2B 대시보드/리포트 제공</a:t>
            </a:r>
            <a:endParaRPr lang="en-US" sz="12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Humanistic Authority(균형·공생·공감) 기준 적용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SpaceOS · PPPP 바이브 코딩 로드맵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11535" y="64739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457200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3C7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연동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13816" y="7680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지도 + 네이버페이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11680"/>
            <a:ext cx="502920" cy="50292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81328" y="2084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지도 (NCP Maps)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7889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스킨십의 첫 접점 — 위치·공실 시각화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Dynamic Map v3 (ncpKeyId) — 프런트 지도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Geocoding REST — 상가 주소 → 좌표 정규화(Silver)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코드: frontend/lib/naverMap.ts · backend/naver_geo.py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81928" y="178308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2011680"/>
            <a:ext cx="502920" cy="502920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96328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네이버페이 (결제형)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56248" y="283464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3C75A"/>
          </a:solidFill>
          <a:ln/>
        </p:spPr>
      </p:sp>
      <p:sp>
        <p:nvSpPr>
          <p:cNvPr id="15" name="Text 13"/>
          <p:cNvSpPr/>
          <p:nvPr/>
        </p:nvSpPr>
        <p:spPr>
          <a:xfrm>
            <a:off x="6556248" y="2834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07808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reserve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56248" y="345643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3C75A"/>
          </a:solidFill>
          <a:ln/>
        </p:spPr>
      </p:sp>
      <p:sp>
        <p:nvSpPr>
          <p:cNvPr id="18" name="Text 16"/>
          <p:cNvSpPr/>
          <p:nvPr/>
        </p:nvSpPr>
        <p:spPr>
          <a:xfrm>
            <a:off x="6556248" y="34564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07808" y="34564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네이버페이 창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56248" y="4078224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3C75A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407822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07808" y="40782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apply · paymentId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56248" y="4700016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3C75A"/>
          </a:solidFill>
          <a:ln/>
        </p:spPr>
      </p:sp>
      <p:sp>
        <p:nvSpPr>
          <p:cNvPr id="24" name="Text 22"/>
          <p:cNvSpPr/>
          <p:nvPr/>
        </p:nvSpPr>
        <p:spPr>
          <a:xfrm>
            <a:off x="6556248" y="470001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07808" y="47000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거래완료 조회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56248" y="5440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용도: DaaS 구독료 · 리포트 단건 · 공실매칭 성공보수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A5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 모든 키는 .env(.gitignore)로 보호 — 코드에 하드코딩 금지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SpaceOS · PPPP 바이브 코딩 로드맵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11535" y="64739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146304" cy="457200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13816" y="7680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4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 로드맵 (M1–M6)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554480" y="3657600"/>
            <a:ext cx="9052560" cy="0"/>
          </a:xfrm>
          <a:prstGeom prst="line">
            <a:avLst/>
          </a:prstGeom>
          <a:noFill/>
          <a:ln w="38100">
            <a:solidFill>
              <a:srgbClr val="E3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3456432"/>
            <a:ext cx="402336" cy="402336"/>
          </a:xfrm>
          <a:prstGeom prst="ellipse">
            <a:avLst/>
          </a:prstGeom>
          <a:solidFill>
            <a:srgbClr val="0EA5B7"/>
          </a:solidFill>
          <a:ln/>
        </p:spPr>
      </p:sp>
      <p:sp>
        <p:nvSpPr>
          <p:cNvPr id="7" name="Text 5"/>
          <p:cNvSpPr/>
          <p:nvPr/>
        </p:nvSpPr>
        <p:spPr>
          <a:xfrm>
            <a:off x="1353312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17830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59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셋업·거점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수집 시작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63824" y="3456432"/>
            <a:ext cx="402336" cy="402336"/>
          </a:xfrm>
          <a:prstGeom prst="ellipse">
            <a:avLst/>
          </a:prstGeom>
          <a:solidFill>
            <a:srgbClr val="0EA5B7"/>
          </a:solidFill>
          <a:ln/>
        </p:spPr>
      </p:sp>
      <p:sp>
        <p:nvSpPr>
          <p:cNvPr id="12" name="Text 10"/>
          <p:cNvSpPr/>
          <p:nvPr/>
        </p:nvSpPr>
        <p:spPr>
          <a:xfrm>
            <a:off x="3163824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96312" y="4069080"/>
            <a:ext cx="17830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87752" y="41879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A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87752" y="4617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1차 학습 70%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74336" y="3456432"/>
            <a:ext cx="402336" cy="40233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7" name="Text 15"/>
          <p:cNvSpPr/>
          <p:nvPr/>
        </p:nvSpPr>
        <p:spPr>
          <a:xfrm>
            <a:off x="4974336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6824" y="2240280"/>
            <a:ext cx="17830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98264" y="2359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98264" y="2788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지도·히트맵(&lt;3초)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84848" y="3456432"/>
            <a:ext cx="402336" cy="402336"/>
          </a:xfrm>
          <a:prstGeom prst="ellipse">
            <a:avLst/>
          </a:prstGeom>
          <a:solidFill>
            <a:srgbClr val="EFA50F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17336" y="4069080"/>
            <a:ext cx="17830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08776" y="41879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FA5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08776" y="4617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 시뮬레이터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3456432"/>
            <a:ext cx="402336" cy="402336"/>
          </a:xfrm>
          <a:prstGeom prst="ellipse">
            <a:avLst/>
          </a:prstGeom>
          <a:solidFill>
            <a:srgbClr val="22B07D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0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27848" y="2240280"/>
            <a:ext cx="17830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19288" y="2359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B0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Program·페이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19288" y="2788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마케팅+결제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405872" y="3456432"/>
            <a:ext cx="402336" cy="402336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10405872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738360" y="4069080"/>
            <a:ext cx="17830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3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829800" y="41879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통합·배포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829800" y="4617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파일럿 5–10건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" y="57150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KPI: AI 공실 예측 70%+ · 3D 맵 로딩 &lt;3초 · B2B 파일럿 5–10건 · 유료 전환 의향 30%+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SpaceOS · PPPP 바이브 코딩 로드맵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11535" y="64739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액션 &amp; 역할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2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M1 1주차 — 거점 1곳 확정(라페스타·웨스턴돔 vs 홍대·연남동) 후 즉시 데이터 수집 착수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3429000" cy="2606040"/>
          </a:xfrm>
          <a:prstGeom prst="roundRect">
            <a:avLst>
              <a:gd name="adj" fmla="val 3158"/>
            </a:avLst>
          </a:prstGeom>
          <a:solidFill>
            <a:srgbClr val="1B3056"/>
          </a:solidFill>
          <a:ln w="12700">
            <a:solidFill>
              <a:srgbClr val="2B45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606040"/>
            <a:ext cx="640080" cy="640080"/>
          </a:xfrm>
          <a:prstGeom prst="ellipse">
            <a:avLst/>
          </a:prstGeom>
          <a:solidFill>
            <a:srgbClr val="0EA5B7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엔지니어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8404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3D2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크롤러·파이프라인, Bronze→Gold, 백엔드 API, 인프라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24528" y="2331720"/>
            <a:ext cx="3429000" cy="2606040"/>
          </a:xfrm>
          <a:prstGeom prst="roundRect">
            <a:avLst>
              <a:gd name="adj" fmla="val 3158"/>
            </a:avLst>
          </a:prstGeom>
          <a:solidFill>
            <a:srgbClr val="1B3056"/>
          </a:solidFill>
          <a:ln w="12700">
            <a:solidFill>
              <a:srgbClr val="2B45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260604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8848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98848" y="38404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3D2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LSTM(공실)·GNN(업종), 피처 엔지니어링, MLflow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82128" y="2331720"/>
            <a:ext cx="3429000" cy="2606040"/>
          </a:xfrm>
          <a:prstGeom prst="roundRect">
            <a:avLst>
              <a:gd name="adj" fmla="val 3158"/>
            </a:avLst>
          </a:prstGeom>
          <a:solidFill>
            <a:srgbClr val="1B3056"/>
          </a:solidFill>
          <a:ln w="12700">
            <a:solidFill>
              <a:srgbClr val="2B45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2606040"/>
            <a:ext cx="640080" cy="640080"/>
          </a:xfrm>
          <a:prstGeom prst="ellipse">
            <a:avLst/>
          </a:prstGeom>
          <a:solidFill>
            <a:srgbClr val="22B07D"/>
          </a:solidFill>
          <a:ln/>
        </p:spPr>
      </p:sp>
      <p:sp>
        <p:nvSpPr>
          <p:cNvPr id="17" name="Text 15"/>
          <p:cNvSpPr/>
          <p:nvPr/>
        </p:nvSpPr>
        <p:spPr>
          <a:xfrm>
            <a:off x="8156448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56448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프런트/UX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56448" y="38404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3D2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React·Three.js·네이버 지도, 히트맵·3D 트윈 UI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7FE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바이브 코딩으로 6개월 안에 ‘예측 가능한 상권 플랫폼’ MVP를 만든다.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SpaceOS · PPPP 바이브 코딩 로드맵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11535" y="64739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SpaceOS PPPP 웹/앱 구현 로드맵</dc:title>
  <dc:subject>PptxGenJS Presentation</dc:subject>
  <dc:creator>SpaceOS (sh.pac)</dc:creator>
  <cp:lastModifiedBy>SpaceOS (sh.pac)</cp:lastModifiedBy>
  <cp:revision>1</cp:revision>
  <dcterms:created xsi:type="dcterms:W3CDTF">2026-05-30T09:02:38Z</dcterms:created>
  <dcterms:modified xsi:type="dcterms:W3CDTF">2026-05-30T09:02:38Z</dcterms:modified>
</cp:coreProperties>
</file>